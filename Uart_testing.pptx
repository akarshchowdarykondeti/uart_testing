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DD9E1D3-7E07-4549-9559-64DD435418A9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303920" y="598680"/>
            <a:ext cx="7029360" cy="99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ubTitle"/>
          </p:nvPr>
        </p:nvSpPr>
        <p:spPr>
          <a:xfrm>
            <a:off x="1303920" y="1990080"/>
            <a:ext cx="7029360" cy="254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FC37988-F252-4DCD-A453-21814DB3494A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303920" y="598680"/>
            <a:ext cx="7029360" cy="99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1303920" y="1990080"/>
            <a:ext cx="7029360" cy="254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0E6952E-5DAE-440D-A195-00650D3BC424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1303920" y="598680"/>
            <a:ext cx="7029360" cy="99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1303920" y="1990080"/>
            <a:ext cx="3430080" cy="254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/>
          </p:nvPr>
        </p:nvSpPr>
        <p:spPr>
          <a:xfrm>
            <a:off x="4905720" y="1990080"/>
            <a:ext cx="3430080" cy="254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501E4B1-FBF3-4948-92AC-CCDF34175E63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303920" y="598680"/>
            <a:ext cx="7029360" cy="99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7967C60-92C9-42EE-A320-E79608B66079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subTitle"/>
          </p:nvPr>
        </p:nvSpPr>
        <p:spPr>
          <a:xfrm>
            <a:off x="1303920" y="598680"/>
            <a:ext cx="7029360" cy="4628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C8FF860-CD9A-4962-9AC2-BF5320328CB6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1303920" y="598680"/>
            <a:ext cx="7029360" cy="99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1303920" y="1990080"/>
            <a:ext cx="3430080" cy="121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/>
          </p:nvPr>
        </p:nvSpPr>
        <p:spPr>
          <a:xfrm>
            <a:off x="4905720" y="1990080"/>
            <a:ext cx="3430080" cy="254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/>
          </p:nvPr>
        </p:nvSpPr>
        <p:spPr>
          <a:xfrm>
            <a:off x="1303920" y="3317400"/>
            <a:ext cx="3430080" cy="121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91D1F52-9871-48C0-ABDE-5A4C234A5A2E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303920" y="598680"/>
            <a:ext cx="7029360" cy="99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1303920" y="1990080"/>
            <a:ext cx="3430080" cy="254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4905720" y="1990080"/>
            <a:ext cx="3430080" cy="121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/>
          </p:nvPr>
        </p:nvSpPr>
        <p:spPr>
          <a:xfrm>
            <a:off x="4905720" y="3317400"/>
            <a:ext cx="3430080" cy="121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59409C0-3A10-4F90-AEAA-D6EB463C3F01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303920" y="598680"/>
            <a:ext cx="7029360" cy="99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1303920" y="1990080"/>
            <a:ext cx="3430080" cy="121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4905720" y="1990080"/>
            <a:ext cx="3430080" cy="121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1303920" y="3317400"/>
            <a:ext cx="7029360" cy="121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AB47F91-3DA1-4266-A985-D2974210D4E0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303920" y="598680"/>
            <a:ext cx="7029360" cy="99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1303920" y="1990080"/>
            <a:ext cx="7029360" cy="121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1303920" y="3317400"/>
            <a:ext cx="7029360" cy="121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E2BB3C0-D83B-487F-B241-C1D444D77330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303920" y="598680"/>
            <a:ext cx="7029360" cy="99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1303920" y="1990080"/>
            <a:ext cx="3430080" cy="121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905720" y="1990080"/>
            <a:ext cx="3430080" cy="121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1303920" y="3317400"/>
            <a:ext cx="3430080" cy="121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/>
          </p:nvPr>
        </p:nvSpPr>
        <p:spPr>
          <a:xfrm>
            <a:off x="4905720" y="3317400"/>
            <a:ext cx="3430080" cy="121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A63BB23-49CD-4859-8F77-81147DBD7C56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303920" y="598680"/>
            <a:ext cx="7029360" cy="99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1303920" y="1990080"/>
            <a:ext cx="2263320" cy="121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3680640" y="1990080"/>
            <a:ext cx="2263320" cy="121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/>
          </p:nvPr>
        </p:nvSpPr>
        <p:spPr>
          <a:xfrm>
            <a:off x="6057720" y="1990080"/>
            <a:ext cx="2263320" cy="121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/>
          </p:nvPr>
        </p:nvSpPr>
        <p:spPr>
          <a:xfrm>
            <a:off x="1303920" y="3317400"/>
            <a:ext cx="2263320" cy="121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3" name="PlaceHolder 6"/>
          <p:cNvSpPr>
            <a:spLocks noGrp="1"/>
          </p:cNvSpPr>
          <p:nvPr>
            <p:ph/>
          </p:nvPr>
        </p:nvSpPr>
        <p:spPr>
          <a:xfrm>
            <a:off x="3680640" y="3317400"/>
            <a:ext cx="2263320" cy="121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4" name="PlaceHolder 7"/>
          <p:cNvSpPr>
            <a:spLocks noGrp="1"/>
          </p:cNvSpPr>
          <p:nvPr>
            <p:ph/>
          </p:nvPr>
        </p:nvSpPr>
        <p:spPr>
          <a:xfrm>
            <a:off x="6057720" y="3317400"/>
            <a:ext cx="2263320" cy="121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A437C1F-5703-476A-AF88-2BF1DB7DB642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8F12E45-E192-42CD-9D9A-E8B1978E7285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1303920" y="598680"/>
            <a:ext cx="7029360" cy="99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ubTitle"/>
          </p:nvPr>
        </p:nvSpPr>
        <p:spPr>
          <a:xfrm>
            <a:off x="1303920" y="1990080"/>
            <a:ext cx="7029360" cy="254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E655734-3168-44BB-91C9-48BE5663FF54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1303920" y="598680"/>
            <a:ext cx="7029360" cy="99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1303920" y="1990080"/>
            <a:ext cx="7029360" cy="254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9429F89-D8FF-4EDD-AAC5-1AAB316D8671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1303920" y="598680"/>
            <a:ext cx="7029360" cy="99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1303920" y="1990080"/>
            <a:ext cx="3430080" cy="254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/>
          </p:nvPr>
        </p:nvSpPr>
        <p:spPr>
          <a:xfrm>
            <a:off x="4905720" y="1990080"/>
            <a:ext cx="3430080" cy="254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98C1F6B-7D49-4236-8735-56F0C6EBB5A5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303920" y="598680"/>
            <a:ext cx="7029360" cy="99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CF03691-DBBD-41AC-B5CB-E411DD977E87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ubTitle"/>
          </p:nvPr>
        </p:nvSpPr>
        <p:spPr>
          <a:xfrm>
            <a:off x="1303920" y="598680"/>
            <a:ext cx="7029360" cy="4628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FA8AA99-409C-41D6-A13D-2184BD9B8A81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1303920" y="598680"/>
            <a:ext cx="7029360" cy="99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1303920" y="1990080"/>
            <a:ext cx="3430080" cy="121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/>
          </p:nvPr>
        </p:nvSpPr>
        <p:spPr>
          <a:xfrm>
            <a:off x="4905720" y="1990080"/>
            <a:ext cx="3430080" cy="254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/>
          </p:nvPr>
        </p:nvSpPr>
        <p:spPr>
          <a:xfrm>
            <a:off x="1303920" y="3317400"/>
            <a:ext cx="3430080" cy="121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4E8A691-47A3-43B7-85C3-B015BC107DC5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303920" y="598680"/>
            <a:ext cx="7029360" cy="99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1303920" y="1990080"/>
            <a:ext cx="3430080" cy="254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4905720" y="1990080"/>
            <a:ext cx="3430080" cy="121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/>
          </p:nvPr>
        </p:nvSpPr>
        <p:spPr>
          <a:xfrm>
            <a:off x="4905720" y="3317400"/>
            <a:ext cx="3430080" cy="121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548ED8F-A362-4B0F-9617-CAFD210D0F7B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303920" y="598680"/>
            <a:ext cx="7029360" cy="99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1303920" y="1990080"/>
            <a:ext cx="3430080" cy="121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/>
          </p:nvPr>
        </p:nvSpPr>
        <p:spPr>
          <a:xfrm>
            <a:off x="4905720" y="1990080"/>
            <a:ext cx="3430080" cy="121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/>
          </p:nvPr>
        </p:nvSpPr>
        <p:spPr>
          <a:xfrm>
            <a:off x="1303920" y="3317400"/>
            <a:ext cx="7029360" cy="121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4581C18-A184-4650-8388-EC0B9D8852A3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1303920" y="598680"/>
            <a:ext cx="7029360" cy="99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1303920" y="1990080"/>
            <a:ext cx="7029360" cy="121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1303920" y="3317400"/>
            <a:ext cx="7029360" cy="121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A47BA6E-38EC-46D4-A867-48F910F87929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303920" y="598680"/>
            <a:ext cx="7029360" cy="99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1303920" y="1990080"/>
            <a:ext cx="3430080" cy="121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4905720" y="1990080"/>
            <a:ext cx="3430080" cy="121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/>
          </p:nvPr>
        </p:nvSpPr>
        <p:spPr>
          <a:xfrm>
            <a:off x="1303920" y="3317400"/>
            <a:ext cx="3430080" cy="121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/>
          </p:nvPr>
        </p:nvSpPr>
        <p:spPr>
          <a:xfrm>
            <a:off x="4905720" y="3317400"/>
            <a:ext cx="3430080" cy="121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D68061A-EDC8-47F5-A5B3-8D9DEACBB1AA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303920" y="598680"/>
            <a:ext cx="7029360" cy="99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1303920" y="1990080"/>
            <a:ext cx="2263320" cy="121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3680640" y="1990080"/>
            <a:ext cx="2263320" cy="121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6057720" y="1990080"/>
            <a:ext cx="2263320" cy="121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/>
          </p:nvPr>
        </p:nvSpPr>
        <p:spPr>
          <a:xfrm>
            <a:off x="1303920" y="3317400"/>
            <a:ext cx="2263320" cy="121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5" name="PlaceHolder 6"/>
          <p:cNvSpPr>
            <a:spLocks noGrp="1"/>
          </p:cNvSpPr>
          <p:nvPr>
            <p:ph/>
          </p:nvPr>
        </p:nvSpPr>
        <p:spPr>
          <a:xfrm>
            <a:off x="3680640" y="3317400"/>
            <a:ext cx="2263320" cy="121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6" name="PlaceHolder 7"/>
          <p:cNvSpPr>
            <a:spLocks noGrp="1"/>
          </p:cNvSpPr>
          <p:nvPr>
            <p:ph/>
          </p:nvPr>
        </p:nvSpPr>
        <p:spPr>
          <a:xfrm>
            <a:off x="6057720" y="3317400"/>
            <a:ext cx="2263320" cy="121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046E6A1-FD58-407C-A81A-652D8BDD8A74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5991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oogle Shape;10;p2"/>
          <p:cNvGrpSpPr/>
          <p:nvPr/>
        </p:nvGrpSpPr>
        <p:grpSpPr>
          <a:xfrm>
            <a:off x="7342920" y="3409560"/>
            <a:ext cx="1690560" cy="1731600"/>
            <a:chOff x="7342920" y="3409560"/>
            <a:chExt cx="1690560" cy="1731600"/>
          </a:xfrm>
        </p:grpSpPr>
        <p:grpSp>
          <p:nvGrpSpPr>
            <p:cNvPr id="1" name="Google Shape;11;p2"/>
            <p:cNvGrpSpPr/>
            <p:nvPr/>
          </p:nvGrpSpPr>
          <p:grpSpPr>
            <a:xfrm>
              <a:off x="7342920" y="4453560"/>
              <a:ext cx="315720" cy="687600"/>
              <a:chOff x="7342920" y="4453560"/>
              <a:chExt cx="315720" cy="687600"/>
            </a:xfrm>
          </p:grpSpPr>
          <p:sp>
            <p:nvSpPr>
              <p:cNvPr id="2" name="Google Shape;12;p2"/>
              <p:cNvSpPr/>
              <p:nvPr/>
            </p:nvSpPr>
            <p:spPr>
              <a:xfrm>
                <a:off x="7342920" y="4453560"/>
                <a:ext cx="315720" cy="687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" name="Google Shape;13;p2"/>
              <p:cNvSpPr/>
              <p:nvPr/>
            </p:nvSpPr>
            <p:spPr>
              <a:xfrm>
                <a:off x="7342920" y="4801680"/>
                <a:ext cx="315720" cy="33948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" name="Google Shape;14;p2"/>
            <p:cNvGrpSpPr/>
            <p:nvPr/>
          </p:nvGrpSpPr>
          <p:grpSpPr>
            <a:xfrm>
              <a:off x="7801200" y="4105800"/>
              <a:ext cx="315720" cy="1035360"/>
              <a:chOff x="7801200" y="4105800"/>
              <a:chExt cx="315720" cy="1035360"/>
            </a:xfrm>
          </p:grpSpPr>
          <p:sp>
            <p:nvSpPr>
              <p:cNvPr id="5" name="Google Shape;15;p2"/>
              <p:cNvSpPr/>
              <p:nvPr/>
            </p:nvSpPr>
            <p:spPr>
              <a:xfrm>
                <a:off x="7801200" y="4453560"/>
                <a:ext cx="315720" cy="687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" name="Google Shape;16;p2"/>
              <p:cNvSpPr/>
              <p:nvPr/>
            </p:nvSpPr>
            <p:spPr>
              <a:xfrm>
                <a:off x="7801200" y="4105800"/>
                <a:ext cx="315720" cy="103536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" name="Google Shape;17;p2"/>
              <p:cNvSpPr/>
              <p:nvPr/>
            </p:nvSpPr>
            <p:spPr>
              <a:xfrm>
                <a:off x="7801200" y="4801680"/>
                <a:ext cx="315720" cy="33948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8" name="Google Shape;18;p2"/>
            <p:cNvGrpSpPr/>
            <p:nvPr/>
          </p:nvGrpSpPr>
          <p:grpSpPr>
            <a:xfrm>
              <a:off x="8259480" y="3757680"/>
              <a:ext cx="315720" cy="1383480"/>
              <a:chOff x="8259480" y="3757680"/>
              <a:chExt cx="315720" cy="1383480"/>
            </a:xfrm>
          </p:grpSpPr>
          <p:sp>
            <p:nvSpPr>
              <p:cNvPr id="9" name="Google Shape;19;p2"/>
              <p:cNvSpPr/>
              <p:nvPr/>
            </p:nvSpPr>
            <p:spPr>
              <a:xfrm>
                <a:off x="8259480" y="4453560"/>
                <a:ext cx="315720" cy="687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" name="Google Shape;20;p2"/>
              <p:cNvSpPr/>
              <p:nvPr/>
            </p:nvSpPr>
            <p:spPr>
              <a:xfrm>
                <a:off x="8259480" y="3757680"/>
                <a:ext cx="315720" cy="138348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1" name="Google Shape;21;p2"/>
              <p:cNvSpPr/>
              <p:nvPr/>
            </p:nvSpPr>
            <p:spPr>
              <a:xfrm>
                <a:off x="8259480" y="4105800"/>
                <a:ext cx="315720" cy="103536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" name="Google Shape;22;p2"/>
              <p:cNvSpPr/>
              <p:nvPr/>
            </p:nvSpPr>
            <p:spPr>
              <a:xfrm>
                <a:off x="8259480" y="4801680"/>
                <a:ext cx="315720" cy="33948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3" name="Google Shape;23;p2"/>
            <p:cNvGrpSpPr/>
            <p:nvPr/>
          </p:nvGrpSpPr>
          <p:grpSpPr>
            <a:xfrm>
              <a:off x="8717760" y="3409560"/>
              <a:ext cx="315720" cy="1731600"/>
              <a:chOff x="8717760" y="3409560"/>
              <a:chExt cx="315720" cy="1731600"/>
            </a:xfrm>
          </p:grpSpPr>
          <p:sp>
            <p:nvSpPr>
              <p:cNvPr id="14" name="Google Shape;24;p2"/>
              <p:cNvSpPr/>
              <p:nvPr/>
            </p:nvSpPr>
            <p:spPr>
              <a:xfrm>
                <a:off x="8717760" y="4453560"/>
                <a:ext cx="315720" cy="687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5" name="Google Shape;25;p2"/>
              <p:cNvSpPr/>
              <p:nvPr/>
            </p:nvSpPr>
            <p:spPr>
              <a:xfrm>
                <a:off x="8717760" y="3757680"/>
                <a:ext cx="315720" cy="138348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6" name="Google Shape;26;p2"/>
              <p:cNvSpPr/>
              <p:nvPr/>
            </p:nvSpPr>
            <p:spPr>
              <a:xfrm>
                <a:off x="8717760" y="4105800"/>
                <a:ext cx="315720" cy="103536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7" name="Google Shape;27;p2"/>
              <p:cNvSpPr/>
              <p:nvPr/>
            </p:nvSpPr>
            <p:spPr>
              <a:xfrm>
                <a:off x="8717760" y="3409560"/>
                <a:ext cx="315720" cy="1731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8" name="Google Shape;28;p2"/>
              <p:cNvSpPr/>
              <p:nvPr/>
            </p:nvSpPr>
            <p:spPr>
              <a:xfrm>
                <a:off x="8717760" y="4801680"/>
                <a:ext cx="315720" cy="33948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19" name="Google Shape;29;p2"/>
          <p:cNvGrpSpPr/>
          <p:nvPr/>
        </p:nvGrpSpPr>
        <p:grpSpPr>
          <a:xfrm>
            <a:off x="5043600" y="0"/>
            <a:ext cx="3813120" cy="3838680"/>
            <a:chOff x="5043600" y="0"/>
            <a:chExt cx="3813120" cy="3838680"/>
          </a:xfrm>
        </p:grpSpPr>
        <p:sp>
          <p:nvSpPr>
            <p:cNvPr id="20" name="Google Shape;30;p2"/>
            <p:cNvSpPr/>
            <p:nvPr/>
          </p:nvSpPr>
          <p:spPr>
            <a:xfrm>
              <a:off x="8461080" y="1817640"/>
              <a:ext cx="395640" cy="395640"/>
            </a:xfrm>
            <a:prstGeom prst="ellipse">
              <a:avLst/>
            </a:prstGeom>
            <a:solidFill>
              <a:schemeClr val="lt1">
                <a:alpha val="9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" name="Google Shape;31;p2"/>
            <p:cNvSpPr/>
            <p:nvPr/>
          </p:nvSpPr>
          <p:spPr>
            <a:xfrm rot="11769600">
              <a:off x="6470280" y="3481560"/>
              <a:ext cx="318960" cy="318960"/>
            </a:xfrm>
            <a:prstGeom prst="ellipse">
              <a:avLst/>
            </a:prstGeom>
            <a:solidFill>
              <a:schemeClr val="lt1">
                <a:alpha val="9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22" name="Google Shape;32;p2"/>
            <p:cNvGrpSpPr/>
            <p:nvPr/>
          </p:nvGrpSpPr>
          <p:grpSpPr>
            <a:xfrm>
              <a:off x="7648920" y="2704320"/>
              <a:ext cx="633960" cy="633960"/>
              <a:chOff x="7648920" y="2704320"/>
              <a:chExt cx="633960" cy="633960"/>
            </a:xfrm>
          </p:grpSpPr>
          <p:sp>
            <p:nvSpPr>
              <p:cNvPr id="23" name="Google Shape;33;p2"/>
              <p:cNvSpPr/>
              <p:nvPr/>
            </p:nvSpPr>
            <p:spPr>
              <a:xfrm rot="5400000">
                <a:off x="7648920" y="2704320"/>
                <a:ext cx="633960" cy="633960"/>
              </a:xfrm>
              <a:prstGeom prst="ellipse">
                <a:avLst/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" name="Google Shape;34;p2"/>
              <p:cNvSpPr/>
              <p:nvPr/>
            </p:nvSpPr>
            <p:spPr>
              <a:xfrm rot="5400000">
                <a:off x="7648920" y="2704320"/>
                <a:ext cx="633960" cy="633960"/>
              </a:xfrm>
              <a:prstGeom prst="pie">
                <a:avLst>
                  <a:gd name="adj1" fmla="val 8244818"/>
                  <a:gd name="adj2" fmla="val 16246175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" name="Google Shape;35;p2"/>
              <p:cNvSpPr/>
              <p:nvPr/>
            </p:nvSpPr>
            <p:spPr>
              <a:xfrm rot="5400000">
                <a:off x="7769520" y="2824920"/>
                <a:ext cx="393120" cy="393120"/>
              </a:xfrm>
              <a:prstGeom prst="ellipse">
                <a:avLst/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26" name="Google Shape;36;p2"/>
            <p:cNvSpPr/>
            <p:nvPr/>
          </p:nvSpPr>
          <p:spPr>
            <a:xfrm>
              <a:off x="8461080" y="1817640"/>
              <a:ext cx="395640" cy="395640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27" name="Google Shape;37;p2"/>
            <p:cNvGrpSpPr/>
            <p:nvPr/>
          </p:nvGrpSpPr>
          <p:grpSpPr>
            <a:xfrm>
              <a:off x="7953480" y="180360"/>
              <a:ext cx="871560" cy="871560"/>
              <a:chOff x="7953480" y="180360"/>
              <a:chExt cx="871560" cy="871560"/>
            </a:xfrm>
          </p:grpSpPr>
          <p:sp>
            <p:nvSpPr>
              <p:cNvPr id="28" name="Google Shape;38;p2"/>
              <p:cNvSpPr/>
              <p:nvPr/>
            </p:nvSpPr>
            <p:spPr>
              <a:xfrm rot="12952800">
                <a:off x="8076960" y="303840"/>
                <a:ext cx="624240" cy="624240"/>
              </a:xfrm>
              <a:prstGeom prst="ellipse">
                <a:avLst/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9" name="Google Shape;39;p2"/>
              <p:cNvSpPr/>
              <p:nvPr/>
            </p:nvSpPr>
            <p:spPr>
              <a:xfrm rot="12952800">
                <a:off x="8076960" y="303840"/>
                <a:ext cx="624240" cy="624240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30" name="Google Shape;40;p2"/>
            <p:cNvSpPr/>
            <p:nvPr/>
          </p:nvSpPr>
          <p:spPr>
            <a:xfrm>
              <a:off x="5400000" y="356400"/>
              <a:ext cx="2575800" cy="2575800"/>
            </a:xfrm>
            <a:prstGeom prst="ellipse">
              <a:avLst/>
            </a:prstGeom>
            <a:solidFill>
              <a:schemeClr val="lt1">
                <a:alpha val="9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" name="Google Shape;41;p2"/>
            <p:cNvSpPr/>
            <p:nvPr/>
          </p:nvSpPr>
          <p:spPr>
            <a:xfrm rot="2043600">
              <a:off x="5503680" y="460080"/>
              <a:ext cx="2368440" cy="2368440"/>
            </a:xfrm>
            <a:prstGeom prst="ellipse">
              <a:avLst/>
            </a:prstGeom>
            <a:solidFill>
              <a:schemeClr val="lt1">
                <a:alpha val="9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" name="Google Shape;42;p2"/>
            <p:cNvSpPr/>
            <p:nvPr/>
          </p:nvSpPr>
          <p:spPr>
            <a:xfrm>
              <a:off x="5399640" y="360360"/>
              <a:ext cx="2575800" cy="2575800"/>
            </a:xfrm>
            <a:prstGeom prst="pie">
              <a:avLst>
                <a:gd name="adj1" fmla="val 8801158"/>
                <a:gd name="adj2" fmla="val 16200000"/>
              </a:avLst>
            </a:prstGeom>
            <a:solidFill>
              <a:schemeClr val="lt1">
                <a:alpha val="9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" name="Google Shape;43;p2"/>
            <p:cNvSpPr/>
            <p:nvPr/>
          </p:nvSpPr>
          <p:spPr>
            <a:xfrm rot="2044800">
              <a:off x="5911200" y="867240"/>
              <a:ext cx="1553040" cy="1553040"/>
            </a:xfrm>
            <a:prstGeom prst="ellipse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" name="Google Shape;44;p2"/>
            <p:cNvSpPr/>
            <p:nvPr/>
          </p:nvSpPr>
          <p:spPr>
            <a:xfrm>
              <a:off x="5399640" y="356400"/>
              <a:ext cx="2575800" cy="2575800"/>
            </a:xfrm>
            <a:prstGeom prst="pie">
              <a:avLst>
                <a:gd name="adj1" fmla="val 12554101"/>
                <a:gd name="adj2" fmla="val 16200000"/>
              </a:avLst>
            </a:prstGeom>
            <a:solidFill>
              <a:schemeClr val="lt1">
                <a:alpha val="9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" name="Google Shape;45;p2"/>
            <p:cNvSpPr/>
            <p:nvPr/>
          </p:nvSpPr>
          <p:spPr>
            <a:xfrm rot="11769600">
              <a:off x="6470280" y="3481560"/>
              <a:ext cx="318960" cy="318960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303920" y="598680"/>
            <a:ext cx="7029360" cy="99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latin typeface="Arial"/>
              </a:rPr>
              <a:t>Click to edit the title text format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ldNum" idx="1"/>
          </p:nvPr>
        </p:nvSpPr>
        <p:spPr>
          <a:xfrm>
            <a:off x="8451000" y="47368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GB" sz="900" spc="-1" strike="noStrike">
                <a:solidFill>
                  <a:srgbClr val="ffffff"/>
                </a:solidFill>
                <a:latin typeface="Nunito"/>
                <a:ea typeface="Nuni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F8DE1BF7-165E-4D68-82F9-79E2A1FFBB69}" type="slidenum">
              <a:rPr b="0" lang="en-GB" sz="900" spc="-1" strike="noStrike">
                <a:solidFill>
                  <a:srgbClr val="ffffff"/>
                </a:solidFill>
                <a:latin typeface="Nunito"/>
                <a:ea typeface="Nunito"/>
              </a:rPr>
              <a:t>&lt;number&gt;</a:t>
            </a:fld>
            <a:endParaRPr b="0" lang="en-IN" sz="900" spc="-1" strike="noStrike"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85;p4"/>
          <p:cNvGrpSpPr/>
          <p:nvPr/>
        </p:nvGrpSpPr>
        <p:grpSpPr>
          <a:xfrm>
            <a:off x="626040" y="300240"/>
            <a:ext cx="998280" cy="998280"/>
            <a:chOff x="626040" y="300240"/>
            <a:chExt cx="998280" cy="998280"/>
          </a:xfrm>
        </p:grpSpPr>
        <p:sp>
          <p:nvSpPr>
            <p:cNvPr id="76" name="Google Shape;86;p4"/>
            <p:cNvSpPr/>
            <p:nvPr/>
          </p:nvSpPr>
          <p:spPr>
            <a:xfrm rot="16200000">
              <a:off x="828720" y="503280"/>
              <a:ext cx="592920" cy="59292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" name="Google Shape;87;p4"/>
            <p:cNvSpPr/>
            <p:nvPr/>
          </p:nvSpPr>
          <p:spPr>
            <a:xfrm rot="16200000">
              <a:off x="626040" y="300240"/>
              <a:ext cx="998280" cy="99828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303920" y="598680"/>
            <a:ext cx="7029360" cy="99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latin typeface="Arial"/>
              </a:rPr>
              <a:t>Click to edit the title text format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1303920" y="1990080"/>
            <a:ext cx="7029360" cy="254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Click to edit the outline text format</a:t>
            </a:r>
            <a:endParaRPr b="0" lang="en-IN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latin typeface="Arial"/>
              </a:rPr>
              <a:t>Second Outline Level</a:t>
            </a:r>
            <a:endParaRPr b="0" lang="en-IN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Third Outline Level</a:t>
            </a:r>
            <a:endParaRPr b="0" lang="en-IN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latin typeface="Arial"/>
              </a:rPr>
              <a:t>Fourth Outline Level</a:t>
            </a:r>
            <a:endParaRPr b="0" lang="en-IN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Fifth Outline Level</a:t>
            </a:r>
            <a:endParaRPr b="0" lang="en-IN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Sixth Outline Level</a:t>
            </a:r>
            <a:endParaRPr b="0" lang="en-IN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Seventh Outline Level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sldNum" idx="2"/>
          </p:nvPr>
        </p:nvSpPr>
        <p:spPr>
          <a:xfrm>
            <a:off x="8451000" y="47368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GB" sz="900" spc="-1" strike="noStrike">
                <a:solidFill>
                  <a:srgbClr val="424242"/>
                </a:solidFill>
                <a:latin typeface="Nunito"/>
                <a:ea typeface="Nuni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5B89A262-972D-4C82-B180-9E18AD5E1ACD}" type="slidenum">
              <a:rPr b="0" lang="en-GB" sz="900" spc="-1" strike="noStrike">
                <a:solidFill>
                  <a:srgbClr val="424242"/>
                </a:solidFill>
                <a:latin typeface="Nunito"/>
                <a:ea typeface="Nunito"/>
              </a:rPr>
              <a:t>&lt;number&gt;</a:t>
            </a:fld>
            <a:endParaRPr b="0" lang="en-IN" sz="9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515160" y="828000"/>
            <a:ext cx="7404840" cy="18720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rm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GB" sz="3600" spc="-1" strike="noStrike">
                <a:solidFill>
                  <a:srgbClr val="ffffff"/>
                </a:solidFill>
                <a:latin typeface="Maven Pro"/>
                <a:ea typeface="Maven Pro"/>
              </a:rPr>
              <a:t>UART Verification System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subTitle"/>
          </p:nvPr>
        </p:nvSpPr>
        <p:spPr>
          <a:xfrm>
            <a:off x="6120000" y="3780000"/>
            <a:ext cx="288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600" spc="-1" strike="noStrike">
                <a:solidFill>
                  <a:srgbClr val="ffffff"/>
                </a:solidFill>
                <a:latin typeface="Nunito"/>
                <a:ea typeface="Nunito"/>
              </a:rPr>
              <a:t>Akarsh Chowdary Kondeti </a:t>
            </a:r>
            <a:br>
              <a:rPr sz="1600"/>
            </a:br>
            <a:r>
              <a:rPr b="0" lang="en-GB" sz="1600" spc="-1" strike="noStrike">
                <a:solidFill>
                  <a:srgbClr val="ffffff"/>
                </a:solidFill>
                <a:latin typeface="Nunito"/>
                <a:ea typeface="Nunito"/>
              </a:rPr>
              <a:t>Bhuvana</a:t>
            </a:r>
            <a:endParaRPr b="0" lang="en-IN" sz="1600" spc="-1" strike="noStrike">
              <a:latin typeface="Arial"/>
            </a:endParaRPr>
          </a:p>
        </p:txBody>
      </p:sp>
      <p:pic>
        <p:nvPicPr>
          <p:cNvPr id="119" name="" descr=""/>
          <p:cNvPicPr/>
          <p:nvPr/>
        </p:nvPicPr>
        <p:blipFill>
          <a:blip r:embed="rId1"/>
          <a:stretch/>
        </p:blipFill>
        <p:spPr>
          <a:xfrm>
            <a:off x="-517320" y="3620160"/>
            <a:ext cx="2857320" cy="1599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1197000" y="697680"/>
            <a:ext cx="7489080" cy="6732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800" spc="-1" strike="noStrike">
                <a:solidFill>
                  <a:srgbClr val="424242"/>
                </a:solidFill>
                <a:latin typeface="Maven Pro"/>
                <a:ea typeface="Maven Pro"/>
              </a:rPr>
              <a:t>Problem Statement 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1143000" y="1371600"/>
            <a:ext cx="7590240" cy="32454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GB" sz="1500" spc="-1" strike="noStrike">
                <a:solidFill>
                  <a:srgbClr val="424242"/>
                </a:solidFill>
                <a:latin typeface="Nunito"/>
                <a:ea typeface="Nunito"/>
              </a:rPr>
              <a:t>UART (Universal Asynchronous Receiver-Transmitter) communication is widely used in embedded systems, but testing and validation of UART links, protocols, and data integrity can be cumbersome and error-prone. 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GB" sz="1500" spc="-1" strike="noStrike">
                <a:solidFill>
                  <a:srgbClr val="424242"/>
                </a:solidFill>
                <a:latin typeface="Nunito"/>
                <a:ea typeface="Nunito"/>
              </a:rPr>
              <a:t>Ensuring correct configuration (baud rates, data bits, stop bits). 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GB" sz="1500" spc="-1" strike="noStrike">
                <a:solidFill>
                  <a:srgbClr val="424242"/>
                </a:solidFill>
                <a:latin typeface="Nunito"/>
                <a:ea typeface="Nunito"/>
              </a:rPr>
              <a:t>Verifying data integrity (e.g., handling random, large, or special character payloads).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GB" sz="1500" spc="-1" strike="noStrike">
                <a:solidFill>
                  <a:srgbClr val="424242"/>
                </a:solidFill>
                <a:latin typeface="Nunito"/>
                <a:ea typeface="Nunito"/>
              </a:rPr>
              <a:t>Stress testing to evaluate system performance under continuous or burst traffic.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endParaRPr b="0" lang="en-IN" sz="1300" spc="-1" strike="noStrike">
              <a:latin typeface="Arial"/>
            </a:endParaRPr>
          </a:p>
        </p:txBody>
      </p:sp>
      <p:pic>
        <p:nvPicPr>
          <p:cNvPr id="122" name="" descr=""/>
          <p:cNvPicPr/>
          <p:nvPr/>
        </p:nvPicPr>
        <p:blipFill>
          <a:blip r:embed="rId1"/>
          <a:stretch/>
        </p:blipFill>
        <p:spPr>
          <a:xfrm>
            <a:off x="6840000" y="0"/>
            <a:ext cx="2303640" cy="761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1303920" y="685800"/>
            <a:ext cx="7029360" cy="5508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 fontScale="86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800" spc="-1" strike="noStrike">
                <a:solidFill>
                  <a:srgbClr val="424242"/>
                </a:solidFill>
                <a:latin typeface="Maven Pro"/>
                <a:ea typeface="Maven Pro"/>
              </a:rPr>
              <a:t>Objective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1303920" y="1371600"/>
            <a:ext cx="7029360" cy="35352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15000"/>
              </a:lnSpc>
              <a:spcBef>
                <a:spcPts val="907"/>
              </a:spcBef>
              <a:spcAft>
                <a:spcPts val="709"/>
              </a:spcAft>
              <a:buNone/>
              <a:tabLst>
                <a:tab algn="l" pos="0"/>
              </a:tabLst>
            </a:pPr>
            <a:r>
              <a:rPr b="0" lang="en-GB" sz="1500" spc="-1" strike="noStrike">
                <a:solidFill>
                  <a:srgbClr val="424242"/>
                </a:solidFill>
                <a:latin typeface="Nunito"/>
                <a:ea typeface="Nunito"/>
              </a:rPr>
              <a:t>Develop a structured UART validation platform to streamline UART testing. 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907"/>
              </a:spcBef>
              <a:spcAft>
                <a:spcPts val="709"/>
              </a:spcAft>
              <a:buNone/>
              <a:tabLst>
                <a:tab algn="l" pos="0"/>
              </a:tabLst>
            </a:pPr>
            <a:r>
              <a:rPr b="0" lang="en-GB" sz="1500" spc="-1" strike="noStrike">
                <a:solidFill>
                  <a:srgbClr val="424242"/>
                </a:solidFill>
                <a:latin typeface="Nunito"/>
                <a:ea typeface="Nunito"/>
              </a:rPr>
              <a:t>Provide both automated test suites for software developers and real-time communication validation for hardware engineers. 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907"/>
              </a:spcBef>
              <a:spcAft>
                <a:spcPts val="709"/>
              </a:spcAft>
              <a:buNone/>
              <a:tabLst>
                <a:tab algn="l" pos="0"/>
              </a:tabLst>
            </a:pPr>
            <a:r>
              <a:rPr b="0" lang="en-GB" sz="1500" spc="-1" strike="noStrike">
                <a:solidFill>
                  <a:srgbClr val="424242"/>
                </a:solidFill>
                <a:latin typeface="Nunito"/>
                <a:ea typeface="Nunito"/>
              </a:rPr>
              <a:t>Ensure seamless testing of communication, configuration, and data integrity across various UART setups (USB-to-UART Loopback,              2 USB-to-UART Raspberry Pi GPIO UART).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15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IN" sz="1300" spc="-1" strike="noStrike">
              <a:latin typeface="Arial"/>
            </a:endParaRPr>
          </a:p>
        </p:txBody>
      </p:sp>
      <p:pic>
        <p:nvPicPr>
          <p:cNvPr id="125" name="" descr=""/>
          <p:cNvPicPr/>
          <p:nvPr/>
        </p:nvPicPr>
        <p:blipFill>
          <a:blip r:embed="rId1"/>
          <a:stretch/>
        </p:blipFill>
        <p:spPr>
          <a:xfrm>
            <a:off x="6840360" y="0"/>
            <a:ext cx="2303640" cy="761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1143000" y="685800"/>
            <a:ext cx="7680600" cy="5619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 fontScale="89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800" spc="-1" strike="noStrike">
                <a:solidFill>
                  <a:srgbClr val="424242"/>
                </a:solidFill>
                <a:latin typeface="Maven Pro"/>
                <a:ea typeface="Maven Pro"/>
              </a:rPr>
              <a:t>Tech Stack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1154880" y="1248480"/>
            <a:ext cx="7531200" cy="34830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50000"/>
              </a:lnSpc>
              <a:spcBef>
                <a:spcPts val="57"/>
              </a:spcBef>
              <a:buNone/>
              <a:tabLst>
                <a:tab algn="l" pos="0"/>
              </a:tabLst>
            </a:pPr>
            <a:r>
              <a:rPr b="1" lang="en-GB" sz="1300" spc="-1" strike="noStrike">
                <a:solidFill>
                  <a:srgbClr val="424242"/>
                </a:solidFill>
                <a:latin typeface="Nunito"/>
                <a:ea typeface="Nunito"/>
              </a:rPr>
              <a:t>Testing: 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50000"/>
              </a:lnSpc>
              <a:spcBef>
                <a:spcPts val="57"/>
              </a:spcBef>
              <a:buNone/>
              <a:tabLst>
                <a:tab algn="l" pos="0"/>
              </a:tabLst>
            </a:pPr>
            <a:r>
              <a:rPr b="1" lang="en-GB" sz="1300" spc="-1" strike="noStrike">
                <a:solidFill>
                  <a:srgbClr val="424242"/>
                </a:solidFill>
                <a:latin typeface="Nunito"/>
                <a:ea typeface="Nunito"/>
              </a:rPr>
              <a:t>               </a:t>
            </a:r>
            <a:r>
              <a:rPr b="1" lang="en-GB" sz="1300" spc="-1" strike="noStrike">
                <a:solidFill>
                  <a:srgbClr val="424242"/>
                </a:solidFill>
                <a:latin typeface="Nunito"/>
                <a:ea typeface="Nunito"/>
              </a:rPr>
              <a:t>Pytest– </a:t>
            </a:r>
            <a:r>
              <a:rPr b="0" lang="en-GB" sz="1300" spc="-1" strike="noStrike">
                <a:solidFill>
                  <a:srgbClr val="424242"/>
                </a:solidFill>
                <a:latin typeface="Nunito"/>
                <a:ea typeface="Nunito"/>
              </a:rPr>
              <a:t>For running comprehensive test scenarios with modular setup.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50000"/>
              </a:lnSpc>
              <a:spcBef>
                <a:spcPts val="57"/>
              </a:spcBef>
              <a:buNone/>
              <a:tabLst>
                <a:tab algn="l" pos="0"/>
              </a:tabLst>
            </a:pPr>
            <a:r>
              <a:rPr b="1" lang="en-GB" sz="1300" spc="-1" strike="noStrike">
                <a:solidFill>
                  <a:srgbClr val="424242"/>
                </a:solidFill>
                <a:latin typeface="Nunito"/>
                <a:ea typeface="Nunito"/>
              </a:rPr>
              <a:t>Serial Communication: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50000"/>
              </a:lnSpc>
              <a:spcBef>
                <a:spcPts val="57"/>
              </a:spcBef>
              <a:buNone/>
              <a:tabLst>
                <a:tab algn="l" pos="0"/>
              </a:tabLst>
            </a:pPr>
            <a:r>
              <a:rPr b="1" lang="en-GB" sz="1300" spc="-1" strike="noStrike">
                <a:solidFill>
                  <a:srgbClr val="424242"/>
                </a:solidFill>
                <a:latin typeface="Nunito"/>
                <a:ea typeface="Nunito"/>
              </a:rPr>
              <a:t>               </a:t>
            </a:r>
            <a:r>
              <a:rPr b="1" lang="en-GB" sz="1300" spc="-1" strike="noStrike">
                <a:solidFill>
                  <a:srgbClr val="424242"/>
                </a:solidFill>
                <a:latin typeface="Nunito"/>
                <a:ea typeface="Nunito"/>
              </a:rPr>
              <a:t>Pyserial- </a:t>
            </a:r>
            <a:r>
              <a:rPr b="0" lang="en-GB" sz="1300" spc="-1" strike="noStrike">
                <a:solidFill>
                  <a:srgbClr val="424242"/>
                </a:solidFill>
                <a:latin typeface="Nunito"/>
                <a:ea typeface="Nunito"/>
              </a:rPr>
              <a:t>Python pyserial for UART communication. 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50000"/>
              </a:lnSpc>
              <a:spcBef>
                <a:spcPts val="57"/>
              </a:spcBef>
              <a:buNone/>
              <a:tabLst>
                <a:tab algn="l" pos="0"/>
              </a:tabLst>
            </a:pPr>
            <a:r>
              <a:rPr b="1" lang="en-GB" sz="1300" spc="-1" strike="noStrike">
                <a:solidFill>
                  <a:srgbClr val="424242"/>
                </a:solidFill>
                <a:latin typeface="Nunito"/>
                <a:ea typeface="Nunito"/>
              </a:rPr>
              <a:t>Frontend: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50000"/>
              </a:lnSpc>
              <a:spcBef>
                <a:spcPts val="57"/>
              </a:spcBef>
              <a:buNone/>
              <a:tabLst>
                <a:tab algn="l" pos="0"/>
              </a:tabLst>
            </a:pPr>
            <a:r>
              <a:rPr b="1" lang="en-GB" sz="1300" spc="-1" strike="noStrike">
                <a:solidFill>
                  <a:srgbClr val="424242"/>
                </a:solidFill>
                <a:latin typeface="Nunito"/>
                <a:ea typeface="Nunito"/>
              </a:rPr>
              <a:t>               </a:t>
            </a:r>
            <a:r>
              <a:rPr b="1" lang="en-GB" sz="1300" spc="-1" strike="noStrike">
                <a:solidFill>
                  <a:srgbClr val="424242"/>
                </a:solidFill>
                <a:latin typeface="Nunito"/>
                <a:ea typeface="Nunito"/>
              </a:rPr>
              <a:t>React– </a:t>
            </a:r>
            <a:r>
              <a:rPr b="0" lang="en-GB" sz="1300" spc="-1" strike="noStrike">
                <a:solidFill>
                  <a:srgbClr val="424242"/>
                </a:solidFill>
                <a:latin typeface="Nunito"/>
                <a:ea typeface="Nunito"/>
              </a:rPr>
              <a:t>To create an interactive and responsive user interface.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50000"/>
              </a:lnSpc>
              <a:spcBef>
                <a:spcPts val="57"/>
              </a:spcBef>
              <a:buNone/>
              <a:tabLst>
                <a:tab algn="l" pos="0"/>
              </a:tabLst>
            </a:pPr>
            <a:r>
              <a:rPr b="1" lang="en-GB" sz="1300" spc="-1" strike="noStrike">
                <a:solidFill>
                  <a:srgbClr val="424242"/>
                </a:solidFill>
                <a:latin typeface="Nunito"/>
                <a:ea typeface="Nunito"/>
              </a:rPr>
              <a:t>Backend :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50000"/>
              </a:lnSpc>
              <a:spcBef>
                <a:spcPts val="57"/>
              </a:spcBef>
              <a:buNone/>
              <a:tabLst>
                <a:tab algn="l" pos="0"/>
              </a:tabLst>
            </a:pPr>
            <a:r>
              <a:rPr b="1" lang="en-GB" sz="1300" spc="-1" strike="noStrike">
                <a:solidFill>
                  <a:srgbClr val="424242"/>
                </a:solidFill>
                <a:latin typeface="Nunito"/>
                <a:ea typeface="Nunito"/>
              </a:rPr>
              <a:t>               </a:t>
            </a:r>
            <a:r>
              <a:rPr b="1" lang="en-GB" sz="1300" spc="-1" strike="noStrike">
                <a:solidFill>
                  <a:srgbClr val="424242"/>
                </a:solidFill>
                <a:latin typeface="Nunito"/>
                <a:ea typeface="Nunito"/>
              </a:rPr>
              <a:t>FastAPI </a:t>
            </a:r>
            <a:r>
              <a:rPr b="0" lang="en-GB" sz="1300" spc="-1" strike="noStrike">
                <a:solidFill>
                  <a:srgbClr val="424242"/>
                </a:solidFill>
                <a:latin typeface="Nunito"/>
                <a:ea typeface="Nunito"/>
              </a:rPr>
              <a:t>– For building a lightweight and asynchronous API</a:t>
            </a:r>
            <a:r>
              <a:rPr b="1" lang="en-GB" sz="1300" spc="-1" strike="noStrike">
                <a:solidFill>
                  <a:srgbClr val="424242"/>
                </a:solidFill>
                <a:latin typeface="Nunito"/>
                <a:ea typeface="Nunito"/>
              </a:rPr>
              <a:t>.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50000"/>
              </a:lnSpc>
              <a:spcBef>
                <a:spcPts val="57"/>
              </a:spcBef>
              <a:buNone/>
              <a:tabLst>
                <a:tab algn="l" pos="0"/>
              </a:tabLst>
            </a:pPr>
            <a:r>
              <a:rPr b="1" lang="en-GB" sz="1300" spc="-1" strike="noStrike">
                <a:solidFill>
                  <a:srgbClr val="424242"/>
                </a:solidFill>
                <a:latin typeface="Nunito"/>
                <a:ea typeface="Nunito"/>
              </a:rPr>
              <a:t>Database: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50000"/>
              </a:lnSpc>
              <a:spcBef>
                <a:spcPts val="57"/>
              </a:spcBef>
              <a:buNone/>
              <a:tabLst>
                <a:tab algn="l" pos="0"/>
              </a:tabLst>
            </a:pPr>
            <a:r>
              <a:rPr b="1" lang="en-GB" sz="1300" spc="-1" strike="noStrike">
                <a:solidFill>
                  <a:srgbClr val="424242"/>
                </a:solidFill>
                <a:latin typeface="Nunito"/>
                <a:ea typeface="Nunito"/>
              </a:rPr>
              <a:t>               </a:t>
            </a:r>
            <a:r>
              <a:rPr b="1" lang="en-GB" sz="1300" spc="-1" strike="noStrike">
                <a:solidFill>
                  <a:srgbClr val="424242"/>
                </a:solidFill>
                <a:latin typeface="Nunito"/>
                <a:ea typeface="Nunito"/>
              </a:rPr>
              <a:t>SQLite –</a:t>
            </a:r>
            <a:r>
              <a:rPr b="0" lang="en-GB" sz="1300" spc="-1" strike="noStrike">
                <a:solidFill>
                  <a:srgbClr val="424242"/>
                </a:solidFill>
                <a:latin typeface="Nunito"/>
                <a:ea typeface="Nunito"/>
              </a:rPr>
              <a:t> For storing test results, logs, and communication data.</a:t>
            </a:r>
            <a:endParaRPr b="0" lang="en-IN" sz="1300" spc="-1" strike="noStrike">
              <a:latin typeface="Arial"/>
            </a:endParaRPr>
          </a:p>
        </p:txBody>
      </p:sp>
      <p:pic>
        <p:nvPicPr>
          <p:cNvPr id="128" name="" descr=""/>
          <p:cNvPicPr/>
          <p:nvPr/>
        </p:nvPicPr>
        <p:blipFill>
          <a:blip r:embed="rId1"/>
          <a:stretch/>
        </p:blipFill>
        <p:spPr>
          <a:xfrm>
            <a:off x="6840360" y="0"/>
            <a:ext cx="2303640" cy="761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/>
          </p:nvPr>
        </p:nvSpPr>
        <p:spPr>
          <a:xfrm>
            <a:off x="1303920" y="1231920"/>
            <a:ext cx="7029360" cy="33660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endParaRPr b="0" lang="en-IN" sz="43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IN" sz="182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IN" sz="17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endParaRPr b="0" lang="en-IN" sz="1300" spc="-1" strike="noStrike">
              <a:latin typeface="Arial"/>
            </a:endParaRPr>
          </a:p>
        </p:txBody>
      </p:sp>
      <p:pic>
        <p:nvPicPr>
          <p:cNvPr id="130" name="" descr=""/>
          <p:cNvPicPr/>
          <p:nvPr/>
        </p:nvPicPr>
        <p:blipFill>
          <a:blip r:embed="rId1"/>
          <a:stretch/>
        </p:blipFill>
        <p:spPr>
          <a:xfrm rot="1200">
            <a:off x="1145160" y="937080"/>
            <a:ext cx="7237800" cy="3978000"/>
          </a:xfrm>
          <a:prstGeom prst="rect">
            <a:avLst/>
          </a:prstGeom>
          <a:ln w="0">
            <a:noFill/>
          </a:ln>
        </p:spPr>
      </p:pic>
      <p:pic>
        <p:nvPicPr>
          <p:cNvPr id="131" name="" descr=""/>
          <p:cNvPicPr/>
          <p:nvPr/>
        </p:nvPicPr>
        <p:blipFill>
          <a:blip r:embed="rId2"/>
          <a:stretch/>
        </p:blipFill>
        <p:spPr>
          <a:xfrm>
            <a:off x="6840360" y="0"/>
            <a:ext cx="2303640" cy="761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1303920" y="685800"/>
            <a:ext cx="7029360" cy="68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000000"/>
                </a:solidFill>
                <a:latin typeface="Arial"/>
              </a:rPr>
              <a:t>Test Scenarios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914400" y="1371600"/>
            <a:ext cx="7159680" cy="297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Basic Tests: Verify simple send/receive communication.</a:t>
            </a:r>
            <a:endParaRPr b="0" lang="en-IN" sz="1500" spc="-1" strike="noStrike"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Configuration Tests:Check different baud rates, parity, data bits, and stop bits.</a:t>
            </a:r>
            <a:endParaRPr b="0" lang="en-IN" sz="1500" spc="-1" strike="noStrike"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Integrity Tests: Validate data integrity under various conditions (large data, random data, binary data).</a:t>
            </a:r>
            <a:endParaRPr b="0" lang="en-IN" sz="1500" spc="-1" strike="noStrike"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Timing Tests: Measure latency, throughput, and inter-byte delays.</a:t>
            </a:r>
            <a:endParaRPr b="0" lang="en-IN" sz="1500" spc="-1" strike="noStrike"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Protocol Tests: Test CRC validation, framed command parsing.</a:t>
            </a:r>
            <a:endParaRPr b="0" lang="en-IN" sz="1500" spc="-1" strike="noStrike"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Stress &amp; Soak Tests: Assess performance under sustained traffic.</a:t>
            </a:r>
            <a:endParaRPr b="0" lang="en-IN" sz="1500" spc="-1" strike="noStrike">
              <a:latin typeface="Arial"/>
            </a:endParaRPr>
          </a:p>
        </p:txBody>
      </p:sp>
      <p:pic>
        <p:nvPicPr>
          <p:cNvPr id="134" name="" descr=""/>
          <p:cNvPicPr/>
          <p:nvPr/>
        </p:nvPicPr>
        <p:blipFill>
          <a:blip r:embed="rId1"/>
          <a:stretch/>
        </p:blipFill>
        <p:spPr>
          <a:xfrm>
            <a:off x="6840360" y="0"/>
            <a:ext cx="2303640" cy="761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1303920" y="685800"/>
            <a:ext cx="7029360" cy="7452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800" spc="-1" strike="noStrike">
                <a:solidFill>
                  <a:srgbClr val="424242"/>
                </a:solidFill>
                <a:latin typeface="Maven Pro"/>
                <a:ea typeface="Maven Pro"/>
              </a:rPr>
              <a:t>Project Outcome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1303920" y="1371600"/>
            <a:ext cx="7029360" cy="35722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 marL="432000" indent="-3240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GB" sz="1500" spc="-1" strike="noStrike">
                <a:solidFill>
                  <a:srgbClr val="000000"/>
                </a:solidFill>
                <a:latin typeface="Arial"/>
                <a:ea typeface="Arial"/>
              </a:rPr>
              <a:t>Functional Test Suite:A complete automated test suite covering essential UART scenarios.</a:t>
            </a:r>
            <a:endParaRPr b="0" lang="en-IN" sz="1500" spc="-1" strike="noStrike">
              <a:latin typeface="Arial"/>
            </a:endParaRPr>
          </a:p>
          <a:p>
            <a:pPr marL="432000" indent="-3240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GB" sz="1500" spc="-1" strike="noStrike">
                <a:solidFill>
                  <a:srgbClr val="000000"/>
                </a:solidFill>
                <a:latin typeface="Arial"/>
                <a:ea typeface="Arial"/>
              </a:rPr>
              <a:t>Real-Time Communication Control:Easy-to-use interface for configuring ports, sending/receiving data, and observing results in real time.</a:t>
            </a:r>
            <a:endParaRPr b="0" lang="en-IN" sz="1500" spc="-1" strike="noStrike">
              <a:latin typeface="Arial"/>
            </a:endParaRPr>
          </a:p>
          <a:p>
            <a:pPr marL="432000" indent="-3240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GB" sz="1500" spc="-1" strike="noStrike">
                <a:solidFill>
                  <a:srgbClr val="000000"/>
                </a:solidFill>
                <a:latin typeface="Arial"/>
                <a:ea typeface="Arial"/>
              </a:rPr>
              <a:t>Extensibility:Framework supports easy additions of more test scenarios and hardware configurations.</a:t>
            </a:r>
            <a:endParaRPr b="0" lang="en-IN" sz="1500" spc="-1" strike="noStrike">
              <a:latin typeface="Arial"/>
            </a:endParaRPr>
          </a:p>
          <a:p>
            <a:pPr marL="432000" indent="-3240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GB" sz="1500" spc="-1" strike="noStrike">
                <a:solidFill>
                  <a:srgbClr val="000000"/>
                </a:solidFill>
                <a:latin typeface="Arial"/>
                <a:ea typeface="Arial"/>
              </a:rPr>
              <a:t>Stability: Comprehensive stress testing ensures reliable UART communication under various conditions.</a:t>
            </a:r>
            <a:endParaRPr b="0" lang="en-IN" sz="1500" spc="-1" strike="noStrike">
              <a:latin typeface="Arial"/>
            </a:endParaRPr>
          </a:p>
        </p:txBody>
      </p:sp>
      <p:pic>
        <p:nvPicPr>
          <p:cNvPr id="137" name="" descr=""/>
          <p:cNvPicPr/>
          <p:nvPr/>
        </p:nvPicPr>
        <p:blipFill>
          <a:blip r:embed="rId1"/>
          <a:stretch/>
        </p:blipFill>
        <p:spPr>
          <a:xfrm>
            <a:off x="6840360" y="0"/>
            <a:ext cx="2303640" cy="761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1296360" y="879840"/>
            <a:ext cx="7029360" cy="29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000000"/>
                </a:solidFill>
                <a:latin typeface="Arial"/>
              </a:rPr>
              <a:t>Advantages:</a:t>
            </a:r>
            <a:endParaRPr b="0" lang="en-IN" sz="2100" spc="-1" strike="noStrike"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914400" y="1371600"/>
            <a:ext cx="7085880" cy="297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5000"/>
          </a:bodyPr>
          <a:p>
            <a:pPr marL="432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SzPct val="100000"/>
              <a:buBlip>
                <a:blip r:embed="rId1"/>
              </a:buBlip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Comprehensive testing across a variety of UART configurations.</a:t>
            </a:r>
            <a:endParaRPr b="0" lang="en-IN" sz="1500" spc="-1" strike="noStrike"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SzPct val="100000"/>
              <a:buBlip>
                <a:blip r:embed="rId2"/>
              </a:buBlip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Real-time test monitoring and result visualization.</a:t>
            </a:r>
            <a:endParaRPr b="0" lang="en-IN" sz="1500" spc="-1" strike="noStrike"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SzPct val="100000"/>
              <a:buBlip>
                <a:blip r:embed="rId3"/>
              </a:buBlip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Easy-to-use interface for engineers and developers.</a:t>
            </a:r>
            <a:endParaRPr b="0" lang="en-IN" sz="1500" spc="-1" strike="noStrike"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SzPct val="100000"/>
              <a:buBlip>
                <a:blip r:embed="rId4"/>
              </a:buBlip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Supports multiple hardware setups (USB-to-UART, GPIO UART).</a:t>
            </a:r>
            <a:endParaRPr b="0" lang="en-IN" sz="15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Disadvantages:</a:t>
            </a:r>
            <a:endParaRPr b="0" lang="en-IN" sz="1800" spc="-1" strike="noStrike"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SzPct val="100000"/>
              <a:buBlip>
                <a:blip r:embed="rId5"/>
              </a:buBlip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Limited to UART communication (no support for other protocols like I2C, SPI).</a:t>
            </a:r>
            <a:endParaRPr b="0" lang="en-IN" sz="1500" spc="-1" strike="noStrike"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SzPct val="100000"/>
              <a:buBlip>
                <a:blip r:embed="rId6"/>
              </a:buBlip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Setup requires knowledge of UART configuration and port permissions.</a:t>
            </a:r>
            <a:endParaRPr b="0" lang="en-IN" sz="1500" spc="-1" strike="noStrike"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SzPct val="100000"/>
              <a:buBlip>
                <a:blip r:embed="rId7"/>
              </a:buBlip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Hardware dependencies may restrict testing scenarios (USB-to-UART adapters or Raspberry Pi).</a:t>
            </a:r>
            <a:endParaRPr b="0" lang="en-IN" sz="1500" spc="-1" strike="noStrike"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None/>
              <a:tabLst>
                <a:tab algn="l" pos="0"/>
              </a:tabLst>
            </a:pPr>
            <a:endParaRPr b="0" lang="en-IN" sz="1800" spc="-1" strike="noStrike"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None/>
              <a:tabLst>
                <a:tab algn="l" pos="0"/>
              </a:tabLst>
            </a:pPr>
            <a:endParaRPr b="0" lang="en-IN" sz="1800" spc="-1" strike="noStrike"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None/>
              <a:tabLst>
                <a:tab algn="l" pos="0"/>
              </a:tabLst>
            </a:pPr>
            <a:endParaRPr b="0" lang="en-IN" sz="1500" spc="-1" strike="noStrike">
              <a:latin typeface="Arial"/>
            </a:endParaRPr>
          </a:p>
        </p:txBody>
      </p:sp>
      <p:pic>
        <p:nvPicPr>
          <p:cNvPr id="140" name="" descr=""/>
          <p:cNvPicPr/>
          <p:nvPr/>
        </p:nvPicPr>
        <p:blipFill>
          <a:blip r:embed="rId8"/>
          <a:stretch/>
        </p:blipFill>
        <p:spPr>
          <a:xfrm>
            <a:off x="6840360" y="0"/>
            <a:ext cx="2303640" cy="761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1303920" y="879840"/>
            <a:ext cx="7029360" cy="29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000000"/>
                </a:solidFill>
                <a:latin typeface="Arial"/>
              </a:rPr>
              <a:t>Future Scope:</a:t>
            </a:r>
            <a:endParaRPr b="0" lang="en-IN" sz="2100" spc="-1" strike="noStrike"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810720" y="1381680"/>
            <a:ext cx="7029360" cy="315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Expanded Hardware Support:Integration of additional UART devices (e.g., Bluetooth UART, Wi-Fi UART).</a:t>
            </a:r>
            <a:endParaRPr b="0" lang="en-IN" sz="1500" spc="-1" strike="noStrike"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Advanced Error Detection:Adding more sophisticated error-handling mechanisms and visual alerts for test failures.</a:t>
            </a:r>
            <a:endParaRPr b="0" lang="en-IN" sz="1500" spc="-1" strike="noStrike"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Cloud Integration:Potential for cloud-based test result storage and collaboration.</a:t>
            </a:r>
            <a:endParaRPr b="0" lang="en-IN" sz="1500" spc="-1" strike="noStrike"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Performance Benchmarks:Real-time performance monitoring, including advanced latency and throughput metrics.</a:t>
            </a:r>
            <a:endParaRPr b="0" lang="en-IN" sz="1500" spc="-1" strike="noStrike"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Cross-Platform Support:Extending the solution to support non-Linux platforms like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Windows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 or macOS.</a:t>
            </a:r>
            <a:endParaRPr b="0" lang="en-IN" sz="1500" spc="-1" strike="noStrike">
              <a:latin typeface="Arial"/>
            </a:endParaRPr>
          </a:p>
        </p:txBody>
      </p:sp>
      <p:pic>
        <p:nvPicPr>
          <p:cNvPr id="143" name="" descr=""/>
          <p:cNvPicPr/>
          <p:nvPr/>
        </p:nvPicPr>
        <p:blipFill>
          <a:blip r:embed="rId1"/>
          <a:stretch/>
        </p:blipFill>
        <p:spPr>
          <a:xfrm>
            <a:off x="6840360" y="0"/>
            <a:ext cx="2303640" cy="761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3576600" y="2160000"/>
            <a:ext cx="2183040" cy="5396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 fontScale="83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800" spc="-1" strike="noStrike">
                <a:solidFill>
                  <a:srgbClr val="424242"/>
                </a:solidFill>
                <a:latin typeface="Maven Pro"/>
                <a:ea typeface="Maven Pro"/>
              </a:rPr>
              <a:t>Thank You</a:t>
            </a:r>
            <a:endParaRPr b="0" lang="en-IN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2026-04-22T09:58:07Z</dcterms:modified>
  <cp:revision>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